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6" r:id="rId5"/>
    <p:sldId id="259" r:id="rId6"/>
    <p:sldId id="267" r:id="rId7"/>
    <p:sldId id="268" r:id="rId8"/>
    <p:sldId id="269" r:id="rId9"/>
    <p:sldId id="270" r:id="rId10"/>
    <p:sldId id="260" r:id="rId11"/>
    <p:sldId id="271" r:id="rId12"/>
    <p:sldId id="272" r:id="rId13"/>
    <p:sldId id="273" r:id="rId14"/>
    <p:sldId id="261" r:id="rId15"/>
    <p:sldId id="274" r:id="rId16"/>
    <p:sldId id="275" r:id="rId17"/>
    <p:sldId id="276" r:id="rId18"/>
    <p:sldId id="277" r:id="rId19"/>
    <p:sldId id="278" r:id="rId20"/>
    <p:sldId id="262" r:id="rId21"/>
    <p:sldId id="263" r:id="rId22"/>
    <p:sldId id="264" r:id="rId23"/>
    <p:sldId id="26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10/17/2023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10/17/2023</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10/17/2023</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10/17/2023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10/17/2023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gn="ctr"/>
            <a:r>
              <a:rPr lang="en-US" b="1" u="sng" dirty="0"/>
              <a:t>Blood Cancer Detection and Classification using Deep Learning</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sz="quarter" idx="1"/>
          </p:nvPr>
        </p:nvSpPr>
        <p:spPr/>
        <p:txBody>
          <a:bodyPr/>
          <a:lstStyle/>
          <a:p>
            <a:pPr algn="just"/>
            <a:r>
              <a:rPr lang="en-US" dirty="0"/>
              <a:t>Blood cancer, also known as leukemia, is a life-threatening disease that requires early and accurate diagnosis for effective treatment. In this project, we present an innovative approach for the detection and classification of blood cancer using deep learning techniques. Specifically, we employ the MobileNetV2 architecture implemented in Python to achieve remarkable results in terms of accuracy.</a:t>
            </a:r>
            <a:endParaRPr lang="en-IN" dirty="0"/>
          </a:p>
          <a:p>
            <a:pPr algn="just"/>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EXISTING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The existing system for blood cancer detection was designed using an Ensemble Voting Classifier, a robust and widely employed machine learning technique. This system primarily focused on the binary classification of blood cell images into two categories: "Normal" and "Leukemia." The primary objective was to distinguish between healthy and leukemia-infected blood cells, thereby aiding in the early diagnosis of this life-threatening disease.</a:t>
            </a:r>
            <a:endParaRPr lang="en-IN" dirty="0"/>
          </a:p>
          <a:p>
            <a:pPr lvl="0" algn="just"/>
            <a:r>
              <a:rPr lang="en-US" dirty="0"/>
              <a:t>The ensemble approach amalgamated multiple base classifiers, each contributing to the final prediction. The system harnessed the collective intelligence of these classifiers to achieve an impressive accuracy rate of 95%. This high accuracy underscores the system's effectiveness in correctly identifying cases of leukemia from normal blood cell images.</a:t>
            </a:r>
            <a:endParaRPr lang="en-IN" dirty="0"/>
          </a:p>
          <a:p>
            <a:pPr algn="just"/>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By restricting the classification to only two classes, "Normal" and "Leukemia," the system streamlined the diagnostic process, simplifying decision-making for medical professionals. This binary classification approach not only enhances the system's interpretability but also expedites the identification of potential leukemia cases.</a:t>
            </a:r>
            <a:endParaRPr lang="en-IN" dirty="0"/>
          </a:p>
          <a:p>
            <a:pPr lvl="0" algn="just"/>
            <a:r>
              <a:rPr lang="en-US" dirty="0"/>
              <a:t>The existing system, while focusing on binary classification, played a vital role in assisting healthcare providers in the initial screening of leukemia. Its accuracy rate of 95% instilled confidence in its reliability, making it a valuable tool for healthcare practitioners. This system paved the way for further advancements in blood cancer detection and classification, setting a strong foundation for subsequent research endeavors in this critical domain.</a:t>
            </a:r>
            <a:endParaRPr lang="en-IN" dirty="0"/>
          </a:p>
          <a:p>
            <a:pPr algn="just"/>
            <a:endParaRPr lang="en-IN" dirty="0"/>
          </a:p>
        </p:txBody>
      </p:sp>
    </p:spTree>
    <p:extLst>
      <p:ext uri="{BB962C8B-B14F-4D97-AF65-F5344CB8AC3E}">
        <p14:creationId xmlns:p14="http://schemas.microsoft.com/office/powerpoint/2010/main" val="2818801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DISADVANTAGES OF EXISTING SYSTEM</a:t>
            </a:r>
            <a:endParaRPr lang="en-US" dirty="0"/>
          </a:p>
        </p:txBody>
      </p:sp>
      <p:sp>
        <p:nvSpPr>
          <p:cNvPr id="3" name="Content Placeholder 2"/>
          <p:cNvSpPr>
            <a:spLocks noGrp="1"/>
          </p:cNvSpPr>
          <p:nvPr>
            <p:ph sz="quarter" idx="1"/>
          </p:nvPr>
        </p:nvSpPr>
        <p:spPr/>
        <p:txBody>
          <a:bodyPr>
            <a:normAutofit fontScale="85000" lnSpcReduction="20000"/>
          </a:bodyPr>
          <a:lstStyle/>
          <a:p>
            <a:pPr lvl="0" algn="just"/>
            <a:r>
              <a:rPr lang="en-US" dirty="0"/>
              <a:t>Limited Classification: One of the significant drawbacks of the existing system is its limited scope in terms of classification. It can only classify blood cell images into two categories, "Normal" and "Leukemia." While this binary classification simplifies the decision-making process, it lacks the ability to differentiate between various subtypes of leukemia, potentially limiting its clinical utility.</a:t>
            </a:r>
            <a:endParaRPr lang="en-IN" dirty="0"/>
          </a:p>
          <a:p>
            <a:pPr lvl="0" algn="just"/>
            <a:r>
              <a:rPr lang="en-US" dirty="0"/>
              <a:t>Lack of Granularity: The binary classification approach provides a simplified view of the problem but lacks the granularity to identify and classify the diverse range of blood cell abnormalities that may exist. This limitation may result in false negatives or misclassification of certain leukemia subtypes, leading to potentially delayed or inaccurate diagnoses.</a:t>
            </a:r>
            <a:endParaRPr lang="en-IN" dirty="0"/>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Sensitivity to Classifier Selection: The ensemble voting classifier's performance heavily depends on the selection and combination of base classifiers. The choice of these base classifiers can significantly impact the system's accuracy and robustness. If not chosen carefully, it may lead to suboptimal performance and reduced reliability.</a:t>
            </a:r>
            <a:endParaRPr lang="en-IN" dirty="0"/>
          </a:p>
          <a:p>
            <a:pPr lvl="0" algn="just"/>
            <a:r>
              <a:rPr lang="en-US" dirty="0"/>
              <a:t>Inability to Provide Detailed Insights: The existing system, with its binary classification approach, lacks the ability to provide detailed insights into the characteristics of detected abnormalities. Medical professionals often require additional information about the type and severity of blood cell abnormalities for more informed decision-making, which this system cannot provide.</a:t>
            </a:r>
            <a:endParaRPr lang="en-IN" dirty="0"/>
          </a:p>
          <a:p>
            <a:pPr algn="just"/>
            <a:endParaRPr lang="en-IN" dirty="0"/>
          </a:p>
        </p:txBody>
      </p:sp>
    </p:spTree>
    <p:extLst>
      <p:ext uri="{BB962C8B-B14F-4D97-AF65-F5344CB8AC3E}">
        <p14:creationId xmlns:p14="http://schemas.microsoft.com/office/powerpoint/2010/main" val="15971726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Limited Adaptability: The system may struggle with adapting to evolving datasets or accommodating new subtypes or variations of leukemia. As medical research advances and new insights into blood cancer emerge, the system's inability to adapt to these changes could become a significant limitation.</a:t>
            </a:r>
            <a:endParaRPr lang="en-IN" dirty="0"/>
          </a:p>
          <a:p>
            <a:pPr lvl="0" algn="just"/>
            <a:r>
              <a:rPr lang="en-US" dirty="0"/>
              <a:t>False Positives and Negatives: Despite its relatively high accuracy of 95%, the system may still produce false positives and false negatives. False positives can lead to unnecessary anxiety and further testing for patients, while false negatives can result in missed leukemia diagnoses, potentially delaying treatment and negatively impacting patient outcomes.</a:t>
            </a:r>
            <a:endParaRPr lang="en-IN" dirty="0"/>
          </a:p>
          <a:p>
            <a:pPr algn="just"/>
            <a:endParaRPr lang="en-IN" dirty="0"/>
          </a:p>
        </p:txBody>
      </p:sp>
    </p:spTree>
    <p:extLst>
      <p:ext uri="{BB962C8B-B14F-4D97-AF65-F5344CB8AC3E}">
        <p14:creationId xmlns:p14="http://schemas.microsoft.com/office/powerpoint/2010/main" val="6444074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10000"/>
          </a:bodyPr>
          <a:lstStyle/>
          <a:p>
            <a:pPr lvl="0" algn="just"/>
            <a:r>
              <a:rPr lang="en-US" dirty="0"/>
              <a:t>Lack of Integration: The existing system may not be seamlessly integrated into existing healthcare information systems or workflows, making it less user-friendly for healthcare providers. Integration challenges can hinder its widespread adoption and utilization in clinical settings.</a:t>
            </a:r>
            <a:endParaRPr lang="en-IN" dirty="0"/>
          </a:p>
          <a:p>
            <a:pPr lvl="0" algn="just"/>
            <a:r>
              <a:rPr lang="en-US" dirty="0"/>
              <a:t>Interpretability: Ensemble models, including the voting classifier, can be complex and challenging to interpret. Medical professionals may struggle to understand the rationale behind specific classifications, potentially reducing their trust in the system's recommendations.</a:t>
            </a:r>
            <a:endParaRPr lang="en-IN" dirty="0"/>
          </a:p>
          <a:p>
            <a:pPr algn="just"/>
            <a:endParaRPr lang="en-IN" dirty="0"/>
          </a:p>
        </p:txBody>
      </p:sp>
    </p:spTree>
    <p:extLst>
      <p:ext uri="{BB962C8B-B14F-4D97-AF65-F5344CB8AC3E}">
        <p14:creationId xmlns:p14="http://schemas.microsoft.com/office/powerpoint/2010/main" val="2624157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In conclusion, while the existing system using an Ensemble Voting Classifier has achieved a commendable accuracy rate of 95% for binary blood cancer classification, it is not without its limitations. These drawbacks highlight the need for continuous improvement and the exploration of more advanced techniques to enhance the accuracy, granularity, and adaptability of blood cancer detection systems in the future.</a:t>
            </a:r>
            <a:endParaRPr lang="en-IN" dirty="0"/>
          </a:p>
          <a:p>
            <a:pPr algn="just"/>
            <a:endParaRPr lang="en-IN" dirty="0"/>
          </a:p>
        </p:txBody>
      </p:sp>
    </p:spTree>
    <p:extLst>
      <p:ext uri="{BB962C8B-B14F-4D97-AF65-F5344CB8AC3E}">
        <p14:creationId xmlns:p14="http://schemas.microsoft.com/office/powerpoint/2010/main" val="2043651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PROPOSED SYSTEM</a:t>
            </a:r>
            <a:endParaRPr lang="en-US" dirty="0"/>
          </a:p>
        </p:txBody>
      </p:sp>
      <p:sp>
        <p:nvSpPr>
          <p:cNvPr id="3" name="Content Placeholder 2"/>
          <p:cNvSpPr>
            <a:spLocks noGrp="1"/>
          </p:cNvSpPr>
          <p:nvPr>
            <p:ph sz="quarter" idx="1"/>
          </p:nvPr>
        </p:nvSpPr>
        <p:spPr/>
        <p:txBody>
          <a:bodyPr>
            <a:normAutofit fontScale="77500" lnSpcReduction="20000"/>
          </a:bodyPr>
          <a:lstStyle/>
          <a:p>
            <a:pPr lvl="0" algn="just"/>
            <a:r>
              <a:rPr lang="en-US" dirty="0"/>
              <a:t>The proposed system represents a significant advancement in the domain of blood cancer detection and classification. Leveraging the power of deep learning, specifically the MobileNetV2 architecture, this system aims to provide accurate and detailed diagnoses for various blood cell abnormalities, thereby addressing the limitations of the existing binary classification system.</a:t>
            </a:r>
            <a:endParaRPr lang="en-IN" dirty="0"/>
          </a:p>
          <a:p>
            <a:pPr lvl="0" algn="just"/>
            <a:r>
              <a:rPr lang="en-US" dirty="0"/>
              <a:t>Unlike the earlier system, which was restricted to classifying blood cell images as either "Normal" or "Leukemia," the proposed system offers a more comprehensive approach. It aims to classify blood cell images into multiple categories, including subtypes of leukemia such as "Benign," "[Malignant] early Pre-B," "[Malignant] Pre-B," and "[Malignant] Pro-B." This expanded classification system enables healthcare professionals to gain a deeper understanding of the specific blood cell abnormalities present.</a:t>
            </a:r>
            <a:endParaRPr lang="en-IN" dirty="0"/>
          </a:p>
          <a:p>
            <a:pPr algn="just"/>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The core of the proposed system is the MobileNetV2 architecture, a state-of-the-art deep learning model known for its efficiency and accuracy in image classification tasks. MobileNetV2's ability to handle complex and diverse image data makes it well-suited for the intricate task of blood cancer classification. By harnessing the capabilities of this architecture, the proposed system aims to achieve superior accuracy and robustness in identifying and categorizing blood cell abnormalities.</a:t>
            </a:r>
            <a:endParaRPr lang="en-IN" dirty="0"/>
          </a:p>
          <a:p>
            <a:pPr algn="just"/>
            <a:endParaRPr lang="en-IN" dirty="0"/>
          </a:p>
        </p:txBody>
      </p:sp>
    </p:spTree>
    <p:extLst>
      <p:ext uri="{BB962C8B-B14F-4D97-AF65-F5344CB8AC3E}">
        <p14:creationId xmlns:p14="http://schemas.microsoft.com/office/powerpoint/2010/main" val="20716942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85000" lnSpcReduction="20000"/>
          </a:bodyPr>
          <a:lstStyle/>
          <a:p>
            <a:pPr lvl="0" algn="just"/>
            <a:r>
              <a:rPr lang="en-US" dirty="0"/>
              <a:t>Additionally, the proposed system focuses on providing detailed insights into the detected abnormalities. It aims to generate comprehensive reports that include information about the type, severity, and characteristics of the identified blood cell abnormalities. This added level of detail empowers healthcare professionals to make more informed decisions and tailor treatment plans to the specific needs of each patient.</a:t>
            </a:r>
            <a:endParaRPr lang="en-IN" dirty="0"/>
          </a:p>
          <a:p>
            <a:pPr lvl="0" algn="just"/>
            <a:r>
              <a:rPr lang="en-US" dirty="0"/>
              <a:t>Furthermore, the proposed system emphasizes adaptability, ensuring that it can accommodate evolving datasets and emerging insights into blood cancer research. This adaptability is crucial in a rapidly evolving medical field, as it allows the system to stay relevant and effective over time.</a:t>
            </a:r>
            <a:endParaRPr lang="en-IN" dirty="0"/>
          </a:p>
          <a:p>
            <a:pPr algn="just"/>
            <a:endParaRPr lang="en-IN" dirty="0"/>
          </a:p>
        </p:txBody>
      </p:sp>
    </p:spTree>
    <p:extLst>
      <p:ext uri="{BB962C8B-B14F-4D97-AF65-F5344CB8AC3E}">
        <p14:creationId xmlns:p14="http://schemas.microsoft.com/office/powerpoint/2010/main" val="29897972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lnSpcReduction="10000"/>
          </a:bodyPr>
          <a:lstStyle/>
          <a:p>
            <a:pPr lvl="0" algn="just"/>
            <a:r>
              <a:rPr lang="en-US" dirty="0"/>
              <a:t>In conclusion, the proposed system represents a significant leap forward in blood cancer detection and classification. By leveraging the MobileNetV2 architecture and expanding the classification scope to include multiple categories, it addresses the limitations of the earlier binary classification system. With a focus on accuracy, granularity, and adaptability, the proposed system aims to provide healthcare professionals with the advanced tools they need to enhance blood cancer diagnosis and improve patient outcomes.</a:t>
            </a:r>
            <a:endParaRPr lang="en-IN" dirty="0"/>
          </a:p>
          <a:p>
            <a:pPr algn="just"/>
            <a:endParaRPr lang="en-IN" dirty="0"/>
          </a:p>
        </p:txBody>
      </p:sp>
    </p:spTree>
    <p:extLst>
      <p:ext uri="{BB962C8B-B14F-4D97-AF65-F5344CB8AC3E}">
        <p14:creationId xmlns:p14="http://schemas.microsoft.com/office/powerpoint/2010/main" val="15778583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ADVANTAGES OF PROPOSED SYSTEM</a:t>
            </a:r>
            <a:endParaRPr lang="en-US" dirty="0"/>
          </a:p>
        </p:txBody>
      </p:sp>
      <p:sp>
        <p:nvSpPr>
          <p:cNvPr id="3" name="Content Placeholder 2"/>
          <p:cNvSpPr>
            <a:spLocks noGrp="1"/>
          </p:cNvSpPr>
          <p:nvPr>
            <p:ph sz="quarter" idx="1"/>
          </p:nvPr>
        </p:nvSpPr>
        <p:spPr/>
        <p:txBody>
          <a:bodyPr>
            <a:normAutofit fontScale="85000" lnSpcReduction="20000"/>
          </a:bodyPr>
          <a:lstStyle/>
          <a:p>
            <a:pPr lvl="0" algn="just"/>
            <a:r>
              <a:rPr lang="en-US" dirty="0"/>
              <a:t>Multi-Class Classification: Unlike the earlier binary classification system, the proposed system offers multi-class classification, enabling the identification and categorization of various blood cell abnormalities, including different subtypes of leukemia. This provides healthcare professionals with a more comprehensive understanding of the disease's complexity.</a:t>
            </a:r>
            <a:endParaRPr lang="en-IN" dirty="0"/>
          </a:p>
          <a:p>
            <a:pPr lvl="0" algn="just"/>
            <a:r>
              <a:rPr lang="en-US" dirty="0"/>
              <a:t>Enhanced Accuracy: Leveraging the MobileNetV2 architecture, the proposed system is expected to achieve a higher level of accuracy in blood cancer detection and classification. Deep learning models like MobileNetV2 are known for their ability to handle complex image data effectively, resulting in improved diagnostic precision.</a:t>
            </a:r>
            <a:endParaRPr lang="en-IN" dirty="0"/>
          </a:p>
          <a:p>
            <a:pPr algn="just"/>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Detailed Insights: The proposed system aims to provide detailed insights into the detected abnormalities, including information about the type, severity, and specific characteristics of the identified blood cell abnormalities. This level of detail empowers medical professionals to tailor treatment plans to individual patient needs.</a:t>
            </a:r>
            <a:endParaRPr lang="en-IN" dirty="0"/>
          </a:p>
          <a:p>
            <a:pPr lvl="0" algn="just"/>
            <a:r>
              <a:rPr lang="en-US" dirty="0"/>
              <a:t>Adaptability: The system is designed to be adaptable and capable of accommodating evolving datasets and emerging insights in blood cancer research. This adaptability ensures that the system remains relevant and effective over time, even as medical knowledge and diagnostic criteria evolve.</a:t>
            </a:r>
            <a:endParaRPr lang="en-IN" dirty="0"/>
          </a:p>
          <a:p>
            <a:pPr algn="just"/>
            <a:endParaRPr lang="en-IN" dirty="0"/>
          </a:p>
        </p:txBody>
      </p:sp>
    </p:spTree>
    <p:extLst>
      <p:ext uri="{BB962C8B-B14F-4D97-AF65-F5344CB8AC3E}">
        <p14:creationId xmlns:p14="http://schemas.microsoft.com/office/powerpoint/2010/main" val="33494221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Advanced Deep Learning: Utilizing the MobileNetV2 architecture, the proposed system leverages the power of advanced deep learning techniques, which can capture intricate patterns and nuances in blood cell images. This results in a more robust and accurate classification system.</a:t>
            </a:r>
            <a:endParaRPr lang="en-IN" dirty="0"/>
          </a:p>
          <a:p>
            <a:pPr lvl="0" algn="just"/>
            <a:r>
              <a:rPr lang="en-US" dirty="0"/>
              <a:t>Improved Patient Outcomes: The increased accuracy and granularity of the proposed system can lead to earlier and more precise diagnoses of blood cancer, ultimately improving patient outcomes. Timely and accurate diagnoses are critical in ensuring patients receive the appropriate treatment promptly.</a:t>
            </a:r>
            <a:endParaRPr lang="en-IN" dirty="0"/>
          </a:p>
          <a:p>
            <a:pPr algn="just"/>
            <a:endParaRPr lang="en-IN" dirty="0"/>
          </a:p>
        </p:txBody>
      </p:sp>
    </p:spTree>
    <p:extLst>
      <p:ext uri="{BB962C8B-B14F-4D97-AF65-F5344CB8AC3E}">
        <p14:creationId xmlns:p14="http://schemas.microsoft.com/office/powerpoint/2010/main" val="13148559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20000"/>
          </a:bodyPr>
          <a:lstStyle/>
          <a:p>
            <a:pPr lvl="0" algn="just"/>
            <a:r>
              <a:rPr lang="en-US" dirty="0"/>
              <a:t>Efficiency: MobileNetV2 is known for its computational efficiency, making it well-suited for real-time or near-real-time blood cancer classification tasks. This efficiency can expedite the diagnostic process, leading to quicker results and reduced waiting times for patients.</a:t>
            </a:r>
            <a:endParaRPr lang="en-IN" dirty="0"/>
          </a:p>
          <a:p>
            <a:pPr lvl="0" algn="just"/>
            <a:r>
              <a:rPr lang="en-US" dirty="0"/>
              <a:t>Reduced Human Error: Automated blood cancer classification reduces the potential for human error in diagnosis, enhancing the reliability and consistency of results. This can be particularly valuable in busy healthcare settings where manual analysis may be prone to errors.</a:t>
            </a:r>
            <a:endParaRPr lang="en-IN" dirty="0"/>
          </a:p>
          <a:p>
            <a:pPr algn="just"/>
            <a:endParaRPr lang="en-IN" dirty="0"/>
          </a:p>
        </p:txBody>
      </p:sp>
    </p:spTree>
    <p:extLst>
      <p:ext uri="{BB962C8B-B14F-4D97-AF65-F5344CB8AC3E}">
        <p14:creationId xmlns:p14="http://schemas.microsoft.com/office/powerpoint/2010/main" val="42923402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normAutofit fontScale="92500" lnSpcReduction="10000"/>
          </a:bodyPr>
          <a:lstStyle/>
          <a:p>
            <a:pPr lvl="0" algn="just"/>
            <a:r>
              <a:rPr lang="en-US" dirty="0"/>
              <a:t>Integration Capabilities: The proposed system can be seamlessly integrated into existing healthcare information systems and workflows, making it user-friendly for healthcare professionals. This integration ensures that the system can be readily adopted in clinical settings.</a:t>
            </a:r>
            <a:endParaRPr lang="en-IN" dirty="0"/>
          </a:p>
          <a:p>
            <a:pPr lvl="0" algn="just"/>
            <a:r>
              <a:rPr lang="en-US" dirty="0"/>
              <a:t>Research Advancements: By contributing to the field of blood cancer detection and classification, the proposed system can stimulate further research and innovation in the area of medical image analysis and deep learning applications for healthcare.</a:t>
            </a:r>
            <a:endParaRPr lang="en-IN" dirty="0"/>
          </a:p>
          <a:p>
            <a:pPr algn="just"/>
            <a:endParaRPr lang="en-IN" dirty="0"/>
          </a:p>
        </p:txBody>
      </p:sp>
    </p:spTree>
    <p:extLst>
      <p:ext uri="{BB962C8B-B14F-4D97-AF65-F5344CB8AC3E}">
        <p14:creationId xmlns:p14="http://schemas.microsoft.com/office/powerpoint/2010/main" val="30764717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sz="quarter" idx="1"/>
          </p:nvPr>
        </p:nvSpPr>
        <p:spPr/>
        <p:txBody>
          <a:bodyPr/>
          <a:lstStyle/>
          <a:p>
            <a:pPr lvl="0" algn="just"/>
            <a:r>
              <a:rPr lang="en-US" dirty="0"/>
              <a:t>In summary, the proposed system offers numerous advantages, including improved accuracy, detailed insights, adaptability, and enhanced patient outcomes. By harnessing the capabilities of MobileNetV2 and addressing the limitations of the earlier system, it represents a significant step forward in the early detection and classification of blood cancer.</a:t>
            </a:r>
            <a:endParaRPr lang="en-IN" dirty="0"/>
          </a:p>
          <a:p>
            <a:pPr algn="just"/>
            <a:endParaRPr lang="en-IN" dirty="0"/>
          </a:p>
        </p:txBody>
      </p:sp>
    </p:spTree>
    <p:extLst>
      <p:ext uri="{BB962C8B-B14F-4D97-AF65-F5344CB8AC3E}">
        <p14:creationId xmlns:p14="http://schemas.microsoft.com/office/powerpoint/2010/main" val="25412715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ARCHITECTURE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888" y="2014538"/>
            <a:ext cx="7134225"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HARDWARE REQUIREMENTS</a:t>
            </a:r>
            <a:endParaRPr lang="en-US" dirty="0"/>
          </a:p>
        </p:txBody>
      </p:sp>
      <p:sp>
        <p:nvSpPr>
          <p:cNvPr id="3" name="Content Placeholder 2"/>
          <p:cNvSpPr>
            <a:spLocks noGrp="1"/>
          </p:cNvSpPr>
          <p:nvPr>
            <p:ph sz="quarter" idx="1"/>
          </p:nvPr>
        </p:nvSpPr>
        <p:spPr/>
        <p:txBody>
          <a:bodyPr/>
          <a:lstStyle/>
          <a:p>
            <a:pPr lvl="0"/>
            <a:r>
              <a:rPr lang="en-GB" dirty="0"/>
              <a:t>System			: 	Pentium i3 Processor.</a:t>
            </a:r>
            <a:endParaRPr lang="en-IN" dirty="0"/>
          </a:p>
          <a:p>
            <a:pPr lvl="0"/>
            <a:r>
              <a:rPr lang="en-GB" dirty="0"/>
              <a:t>Hard Disk 		</a:t>
            </a:r>
            <a:r>
              <a:rPr lang="en-GB" dirty="0" smtClean="0"/>
              <a:t>: </a:t>
            </a:r>
            <a:r>
              <a:rPr lang="en-GB" dirty="0"/>
              <a:t>	500 GB.</a:t>
            </a:r>
            <a:endParaRPr lang="en-IN" dirty="0"/>
          </a:p>
          <a:p>
            <a:pPr lvl="0"/>
            <a:r>
              <a:rPr lang="en-GB" dirty="0"/>
              <a:t>Monitor			: 	15’’ LED</a:t>
            </a:r>
            <a:endParaRPr lang="en-IN" dirty="0"/>
          </a:p>
          <a:p>
            <a:pPr lvl="0"/>
            <a:r>
              <a:rPr lang="en-GB" dirty="0"/>
              <a:t>Input Devices		: 	Keyboard, Mouse</a:t>
            </a:r>
            <a:endParaRPr lang="en-IN" dirty="0"/>
          </a:p>
          <a:p>
            <a:pPr lvl="0"/>
            <a:r>
              <a:rPr lang="en-GB" dirty="0"/>
              <a:t>Ram			</a:t>
            </a:r>
            <a:r>
              <a:rPr lang="en-GB" dirty="0" smtClean="0"/>
              <a:t>:</a:t>
            </a:r>
            <a:r>
              <a:rPr lang="en-GB" dirty="0"/>
              <a:t>	4 GB</a:t>
            </a:r>
            <a:endParaRPr lang="en-IN" dirty="0"/>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REQUIREMENTS</a:t>
            </a:r>
            <a:endParaRPr lang="en-US" dirty="0"/>
          </a:p>
        </p:txBody>
      </p:sp>
      <p:sp>
        <p:nvSpPr>
          <p:cNvPr id="3" name="Content Placeholder 2"/>
          <p:cNvSpPr>
            <a:spLocks noGrp="1"/>
          </p:cNvSpPr>
          <p:nvPr>
            <p:ph sz="quarter" idx="1"/>
          </p:nvPr>
        </p:nvSpPr>
        <p:spPr/>
        <p:txBody>
          <a:bodyPr/>
          <a:lstStyle/>
          <a:p>
            <a:pPr lvl="0"/>
            <a:r>
              <a:rPr lang="en-US" dirty="0"/>
              <a:t>Operating system 		: 	Windows 10.</a:t>
            </a:r>
            <a:endParaRPr lang="en-IN" dirty="0"/>
          </a:p>
          <a:p>
            <a:pPr lvl="0"/>
            <a:r>
              <a:rPr lang="en-US" dirty="0"/>
              <a:t>Coding Language		:	Python</a:t>
            </a:r>
            <a:endParaRPr lang="en-IN" dirty="0"/>
          </a:p>
          <a:p>
            <a:pPr lvl="0"/>
            <a:r>
              <a:rPr lang="en-US" dirty="0"/>
              <a:t>Web Framework		:	Flask</a:t>
            </a:r>
            <a:endParaRPr lang="en-IN"/>
          </a:p>
          <a:p>
            <a:pPr marL="0" indent="0">
              <a:buNone/>
            </a:pP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a:t>
            </a:r>
            <a:endParaRPr lang="en-US" dirty="0"/>
          </a:p>
        </p:txBody>
      </p:sp>
      <p:sp>
        <p:nvSpPr>
          <p:cNvPr id="3" name="Content Placeholder 2"/>
          <p:cNvSpPr>
            <a:spLocks noGrp="1"/>
          </p:cNvSpPr>
          <p:nvPr>
            <p:ph sz="quarter" idx="1"/>
          </p:nvPr>
        </p:nvSpPr>
        <p:spPr/>
        <p:txBody>
          <a:bodyPr/>
          <a:lstStyle/>
          <a:p>
            <a:pPr algn="just"/>
            <a:r>
              <a:rPr lang="en-US" dirty="0"/>
              <a:t>J. </a:t>
            </a:r>
            <a:r>
              <a:rPr lang="en-US" dirty="0" err="1"/>
              <a:t>Jayachitra</a:t>
            </a:r>
            <a:r>
              <a:rPr lang="en-US" dirty="0"/>
              <a:t>; N. </a:t>
            </a:r>
            <a:r>
              <a:rPr lang="en-US" dirty="0" err="1"/>
              <a:t>Umarkathaf</a:t>
            </a:r>
            <a:r>
              <a:rPr lang="en-US" dirty="0"/>
              <a:t>, “Blood Cancer Identification using Hybrid Ensemble Deep Learning Technique”, 2023 Second International Conference on Electronics and Renewable Systems (ICEARS), IEEE Conference, 2023. </a:t>
            </a:r>
            <a:endParaRPr lang="en-IN" dirty="0"/>
          </a:p>
          <a:p>
            <a:pPr algn="just"/>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7</TotalTime>
  <Words>1760</Words>
  <Application>Microsoft Office PowerPoint</Application>
  <PresentationFormat>On-screen Show (4:3)</PresentationFormat>
  <Paragraphs>50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Median</vt:lpstr>
      <vt:lpstr>Blood Cancer Detection and Classification using Deep Learning</vt:lpstr>
      <vt:lpstr>ABSTRACT</vt:lpstr>
      <vt:lpstr>EXISTING SYSTEM</vt:lpstr>
      <vt:lpstr>PowerPoint Presentation</vt:lpstr>
      <vt:lpstr>DISADVANTAGES OF EXISTING SYSTEM</vt:lpstr>
      <vt:lpstr>PowerPoint Presentation</vt:lpstr>
      <vt:lpstr>PowerPoint Presentation</vt:lpstr>
      <vt:lpstr>PowerPoint Presentation</vt:lpstr>
      <vt:lpstr>PowerPoint Presentation</vt:lpstr>
      <vt:lpstr>PROPOSED SYSTEM</vt:lpstr>
      <vt:lpstr>PowerPoint Presentation</vt:lpstr>
      <vt:lpstr>PowerPoint Presentation</vt:lpstr>
      <vt:lpstr>PowerPoint Presentation</vt:lpstr>
      <vt:lpstr>ADVANTAGES OF PROPOSED SYSTEM</vt:lpstr>
      <vt:lpstr>PowerPoint Presentation</vt:lpstr>
      <vt:lpstr>PowerPoint Presentation</vt:lpstr>
      <vt:lpstr>PowerPoint Presentation</vt:lpstr>
      <vt:lpstr>PowerPoint Presentation</vt:lpstr>
      <vt:lpstr>PowerPoint Presentation</vt:lpstr>
      <vt:lpstr>SYSTEM ARCHITECTURE</vt:lpstr>
      <vt:lpstr>HARDWARE REQUIREMENTS</vt:lpstr>
      <vt:lpstr>SOFTWARE REQUIREMENTS</vt:lpstr>
      <vt:lpstr>REFERENCE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JPINFOTECH</cp:lastModifiedBy>
  <cp:revision>29</cp:revision>
  <dcterms:created xsi:type="dcterms:W3CDTF">2006-08-16T00:00:00Z</dcterms:created>
  <dcterms:modified xsi:type="dcterms:W3CDTF">2023-10-17T16:36:55Z</dcterms:modified>
</cp:coreProperties>
</file>